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días/tardes. Presento ContactCenterAI, mi proyecto final de Ingeniería en Desarrollo de Software. Es una plataforma SaaS multiempresa que ayuda a agentes de contact center a responder con base en documentos PDF mediante RAG. En esta presentación revisaré el problema, la arquitectura, seguridad, calidad y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central es la fricción operativa del agente: debe responder rápido, pero la información vive en PDFs. Sin un sistema con búsqueda semántica, tenancy y trazabilidad, aumentan errores, tiempos de atención y riesgo de filtrar datos entre empresas.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general es entregar un MVP usable: SaaS multiempresa con RAG. Los específicos cubren identidad, documentos, procesamiento asíncrono, chat con fuentes, tickets, BFF GraphQL y despliegue cloud. No prometo E2E de navegador ni métricas productivas de AWS en esta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arquitectura es por capas y servicios. El frontend React habla con el GraphQL BFF y también con Core y Chat según el caso. Core API publica eventos a RabbitMQ; el Worker procesa PDF, genera embeddings y guarda en PostgreSQL con pgvector. Gemini aporta embeddings y generación. Auth0 emite JWT. Chat API es el bounded context de conversaciones RAG.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backend en ASP.NET Core 9; frontend React con Vite. Persistencia PostgreSQL con pgvector. Mensajería RabbitMQ, GraphQL HotChocolate, orquestación Docker Compose, despliegue AWS EC2, Auth0, Gemini, CI/CD GitHub Actions y HTTPS con Caddy.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 RAG completo: el agente sube un PDF; Core encola el trabajo; el Worker extrae texto, fragmenta y pide embeddings a Gemini; se indexan en pgvector. En el chat, la pregunta se convierte en vector, se recuperan fragmentos relevantes y Gemini genera la respuesta con fuentes. Así la respuesta queda anclada al documento de la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Hay separación por bounded context: Core posee empresas, usuarios, documentos y tickets; Chat posee conversaciones. El BFF GraphQL reduce acoplamiento del frontend. El Worker aísla el trabajo pesado de PDF. RabbitMQ desacopla productores y consumidores.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Seguridad en capas: Auth0 autentica; la base local autoriza con rol, empresa y estado activo. Los JWT se validan con parámetros estrictos. En producción hay HTTPS con Caddy. El aislamiento multiempresa filtra por CompanyId. Los secretos no viven en 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pipeline empieza con push o pull request. GitHub Actions construye y ejecuta pruebas. Las imágenes se orquestan con Docker Compose y el despliegue llega a AWS EC2. También hay workflow de CodeQL para análisis estático.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Ejecuté la suite completa: 131 pruebas, cero fallidas y cero omitidas. Además corregí vulnerabilidades NuGet: AutoMapper High y SemanticKernel Critical. Las capturas muestran el antes y el después de la auditoría. El frontend también construye correctamente.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demo en vivo muestro: Dashboard, Documentos con carga PDF, Chat RAG con fuentes, Tickets de escalamiento y el playground o consultas GraphQL del BFF. Estas siluetas representan las pantallas del sistema; la evidencia funcional está en la aplicación en ejecución.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resultados del MVP son concretos: identidad y tenancy, pipeline de documentos, chat con fuentes, tickets, BFF, despliegue cloud y calidad verificable. El sistema cumple el propósito funcional del proyecto académico con evidencia en código y pruebas.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Aprendí que la arquitectura evoluciona: cambiamos Azure OpenAI por Gemini y Azure por EC2 por disponibilidad académica. Los defectos reales se resolvieron con commits concretos: excepciones, CORS del BFF, Dockerfile del Worker y parches de dependencias. Documentar el cambio de alcance evitó confusión entre plan e implementación.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Concluyo que ContactCenterAI cumple el objetivo del proyecto final: un sistema coherente, seguro y verificable. Quedan caminos naturales de mejora —E2E, métricas en AWS, más pruebas de dominio— pero el MVP está listo para defensa académica.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Quedo atenta a sus preguntas sobre arquitectura, RAG, seguridad, CI/CD o la demo. Gracias por su atención.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74520"/>
            <a:ext cx="1645920" cy="64008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ContactCenterAI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Ingeniería en Desarrollo de Software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Katlheen Valeska Rodriguez Garcia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sin respuestas consistentes sobre políticas y procedimientos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dispersa en PDFs difíciles de consultar en vivo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respuestas incorrectas o desactualizadas al cliente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aislamiento entre empresas en soluciones genéricas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 trazabilidad: sin historial, fuentes ni escalamiento a tickets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4300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527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58191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plataforma SaaS multiempresa con RAG sobre PDF para asistir a agentes de contact center con respuestas fundamentadas, seguras y auditables.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60604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157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044952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Autenticación Auth0 y roles (SuperAdmin, CompanyAdmin, Agent)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Gestión multiempresa, usuarios y documentos PDF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Pipeline asíncrono: Worker + embeddings + pgvector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Chat RAG con Gemini y fuentes citables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Tickets, GraphQL BFF y despliegue en AWS EC2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2606040"/>
            <a:ext cx="55778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7157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MVP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3044952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 React + Vite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 API, Chat API, BFF, Worker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RabbitMQ, PostgreSQL, Docker Compose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CI/CD con GitHub Actions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Evidencia de calidad: 131 pruebas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65176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RS256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3172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743200" y="1051560"/>
            <a:ext cx="2926080" cy="438912"/>
          </a:xfrm>
          <a:prstGeom prst="roundRect">
            <a:avLst>
              <a:gd name="adj" fmla="val 12500"/>
            </a:avLst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10515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1463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0" y="1691640"/>
            <a:ext cx="2926080" cy="438912"/>
          </a:xfrm>
          <a:prstGeom prst="roundRect">
            <a:avLst>
              <a:gd name="adj" fmla="val 12500"/>
            </a:avLst>
          </a:prstGeom>
          <a:solidFill>
            <a:srgbClr val="2E5A88"/>
          </a:solidFill>
          <a:ln w="12700">
            <a:solidFill>
              <a:srgbClr val="2E5A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16916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BFF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21031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0" y="2331720"/>
            <a:ext cx="2926080" cy="438912"/>
          </a:xfrm>
          <a:prstGeom prst="roundRect">
            <a:avLst>
              <a:gd name="adj" fmla="val 12500"/>
            </a:avLst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23317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2743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0" y="2971800"/>
            <a:ext cx="2926080" cy="438912"/>
          </a:xfrm>
          <a:prstGeom prst="roundRect">
            <a:avLst>
              <a:gd name="adj" fmla="val 12500"/>
            </a:avLst>
          </a:prstGeom>
          <a:solidFill>
            <a:srgbClr val="2E5A88"/>
          </a:solidFill>
          <a:ln w="12700">
            <a:solidFill>
              <a:srgbClr val="2E5A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297180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0" y="33832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0" y="3611880"/>
            <a:ext cx="2926080" cy="438912"/>
          </a:xfrm>
          <a:prstGeom prst="roundRect">
            <a:avLst>
              <a:gd name="adj" fmla="val 12500"/>
            </a:avLst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36118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40233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0" y="4251960"/>
            <a:ext cx="2926080" cy="438912"/>
          </a:xfrm>
          <a:prstGeom prst="roundRect">
            <a:avLst>
              <a:gd name="adj" fmla="val 12500"/>
            </a:avLst>
          </a:prstGeom>
          <a:solidFill>
            <a:srgbClr val="2E5A88"/>
          </a:solidFill>
          <a:ln w="12700">
            <a:solidFill>
              <a:srgbClr val="2E5A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2519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0" y="46634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0" y="4892040"/>
            <a:ext cx="2926080" cy="438912"/>
          </a:xfrm>
          <a:prstGeom prst="roundRect">
            <a:avLst>
              <a:gd name="adj" fmla="val 12500"/>
            </a:avLst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0" y="48920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31920" y="5303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743200" y="5532120"/>
            <a:ext cx="2926080" cy="438912"/>
          </a:xfrm>
          <a:prstGeom prst="roundRect">
            <a:avLst>
              <a:gd name="adj" fmla="val 12500"/>
            </a:avLst>
          </a:prstGeom>
          <a:solidFill>
            <a:srgbClr val="2E5A88"/>
          </a:solidFill>
          <a:ln w="12700">
            <a:solidFill>
              <a:srgbClr val="2E5A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0" y="55321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0644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263640" y="2103120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API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6364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Conversaciones RAG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732520" y="1280160"/>
            <a:ext cx="3017520" cy="47548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69680" y="1389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869680" y="1719072"/>
            <a:ext cx="2743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Auth0 protege Frontend,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API y Chat API.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API consulta Core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(perfil + search) y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Gemini; persiste en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chat-db.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indexa PDF →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→ pgvector.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4300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143000"/>
            <a:ext cx="109728" cy="77724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1430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9120" y="114300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143000"/>
            <a:ext cx="109728" cy="77724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1430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0" y="114300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143000"/>
            <a:ext cx="109728" cy="77724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1430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10312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103120"/>
            <a:ext cx="109728" cy="77724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1031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89120" y="210312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0" y="2103120"/>
            <a:ext cx="109728" cy="77724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1031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38160" y="210312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2103120"/>
            <a:ext cx="109728" cy="77724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21031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306324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063240"/>
            <a:ext cx="109728" cy="77724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063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89120" y="306324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0" y="3063240"/>
            <a:ext cx="109728" cy="77724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063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38160" y="306324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3063240"/>
            <a:ext cx="109728" cy="77724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3063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" y="402336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4023360"/>
            <a:ext cx="109728" cy="77724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4023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Auth0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89120" y="402336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4023360"/>
            <a:ext cx="109728" cy="77724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4023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38160" y="402336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8160" y="4023360"/>
            <a:ext cx="109728" cy="77724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0" y="4023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0080" y="498348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" y="4983480"/>
            <a:ext cx="109728" cy="77724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4983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RAG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887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371600"/>
            <a:ext cx="640080" cy="640080"/>
          </a:xfrm>
          <a:prstGeom prst="ellipse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en Core API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0" y="11887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371600"/>
            <a:ext cx="640080" cy="640080"/>
          </a:xfrm>
          <a:prstGeom prst="ellipse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23774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RabbitMQ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11887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60920" y="1371600"/>
            <a:ext cx="640080" cy="640080"/>
          </a:xfrm>
          <a:prstGeom prst="ellipse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23774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+ chunks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81160" y="11887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87000" y="1371600"/>
            <a:ext cx="640080" cy="640080"/>
          </a:xfrm>
          <a:prstGeom prst="ellipse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870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1832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18320" y="23774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embeddings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34747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08760" y="3657600"/>
            <a:ext cx="640080" cy="640080"/>
          </a:xfrm>
          <a:prstGeom prst="ellipse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0876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" y="4389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46634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429000" y="34747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34840" y="3657600"/>
            <a:ext cx="640080" cy="640080"/>
          </a:xfrm>
          <a:prstGeom prst="ellipse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566160" y="4389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566160" y="46634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55080" y="34747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60920" y="3657600"/>
            <a:ext cx="640080" cy="640080"/>
          </a:xfrm>
          <a:prstGeom prst="ellipse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6092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92240" y="4389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92240" y="46634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semántica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281160" y="34747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287000" y="3657600"/>
            <a:ext cx="640080" cy="640080"/>
          </a:xfrm>
          <a:prstGeom prst="ellipse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28700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418320" y="4389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418320" y="46634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fuentes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61872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618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10972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Empresas, usuarios, documentos, tickets, búsqueda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2057400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21992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219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46120" y="205740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Conversaciones RAG, historial, integración Gemini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3017520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182112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821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BFF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46120" y="301752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Agregación de consultas para el frontend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3977640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142232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1422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46120" y="39776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chunks, embeddings, consumers RabbitMQ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920" y="4937760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102352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023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46120" y="49377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asíncrona entre Core y Worker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34440"/>
            <a:ext cx="3611880" cy="109728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373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externa · JWT RS256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3400" y="123444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234440"/>
            <a:ext cx="3611880" cy="109728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7373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0" y="22860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 · CompanyAdmin · Agent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83880" y="123444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1234440"/>
            <a:ext cx="3611880" cy="109728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17373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12480" y="22860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issuer, audience y lifetime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56616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566160"/>
            <a:ext cx="3611880" cy="109728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069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1520" y="46177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 en borde de despliegue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343400" y="356616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43400" y="3566160"/>
            <a:ext cx="3611880" cy="109728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4069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Multiempresa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572000" y="46177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por CompanyId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183880" y="356616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566160"/>
            <a:ext cx="3611880" cy="109728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4069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412480" y="46177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git · .env / host EC2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2880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48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29000" y="182880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148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66160" y="2926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66160" y="3520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+ frontend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350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355080" y="182880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148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92240" y="2926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3520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112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281160" y="182880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1160" y="2148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418320" y="2926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18320" y="3520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vía SSH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515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ejecutadas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10515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11430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343400" y="17830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Fallidas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83880" y="10515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11430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183880" y="17830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Omitidas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2468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de vulnerabilidades NuGet (capturas del proyecto)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2880360"/>
            <a:ext cx="548640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2880360"/>
            <a:ext cx="548640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971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2971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200" dirty="0"/>
          </a:p>
        </p:txBody>
      </p:sp>
      <p:pic>
        <p:nvPicPr>
          <p:cNvPr id="21" name="Image 0" descr="C:\Users\Kathl\OneDrive\Escritorio\Proyecto_Final_IA\docs\security\antes-correccion-nu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46120"/>
            <a:ext cx="5212080" cy="2971800"/>
          </a:xfrm>
          <a:prstGeom prst="rect">
            <a:avLst/>
          </a:prstGeom>
        </p:spPr>
      </p:pic>
      <p:pic>
        <p:nvPicPr>
          <p:cNvPr id="22" name="Image 1" descr="C:\Users\Kathl\OneDrive\Escritorio\Proyecto_Final_IA\docs\security\despues-correccion-nu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246120"/>
            <a:ext cx="521208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— pantallas clave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2194560" cy="4754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88720"/>
            <a:ext cx="2194560" cy="41148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88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1828800" cy="411480"/>
          </a:xfrm>
          <a:prstGeom prst="roundRect">
            <a:avLst>
              <a:gd name="adj" fmla="val 8889"/>
            </a:avLst>
          </a:prstGeom>
          <a:solidFill>
            <a:srgbClr val="D6E4F0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514600"/>
            <a:ext cx="1828800" cy="411480"/>
          </a:xfrm>
          <a:prstGeom prst="roundRect">
            <a:avLst>
              <a:gd name="adj" fmla="val 888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154680"/>
            <a:ext cx="1828800" cy="411480"/>
          </a:xfrm>
          <a:prstGeom prst="roundRect">
            <a:avLst>
              <a:gd name="adj" fmla="val 888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794760"/>
            <a:ext cx="1828800" cy="411480"/>
          </a:xfrm>
          <a:prstGeom prst="roundRect">
            <a:avLst>
              <a:gd name="adj" fmla="val 888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754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operativo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por rol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97480" y="1188720"/>
            <a:ext cx="2194560" cy="4754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97480" y="1188720"/>
            <a:ext cx="2194560" cy="41148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1188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80360" y="1874520"/>
            <a:ext cx="1828800" cy="411480"/>
          </a:xfrm>
          <a:prstGeom prst="roundRect">
            <a:avLst>
              <a:gd name="adj" fmla="val 8889"/>
            </a:avLst>
          </a:prstGeom>
          <a:solidFill>
            <a:srgbClr val="D6E4F0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80360" y="2514600"/>
            <a:ext cx="1828800" cy="411480"/>
          </a:xfrm>
          <a:prstGeom prst="roundRect">
            <a:avLst>
              <a:gd name="adj" fmla="val 888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80360" y="3154680"/>
            <a:ext cx="1828800" cy="411480"/>
          </a:xfrm>
          <a:prstGeom prst="roundRect">
            <a:avLst>
              <a:gd name="adj" fmla="val 888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80360" y="3794760"/>
            <a:ext cx="1828800" cy="411480"/>
          </a:xfrm>
          <a:prstGeom prst="roundRect">
            <a:avLst>
              <a:gd name="adj" fmla="val 888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4754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PDF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indexación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1188720"/>
            <a:ext cx="2194560" cy="4754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1188720"/>
            <a:ext cx="2194560" cy="41148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1188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212080" y="1874520"/>
            <a:ext cx="1828800" cy="411480"/>
          </a:xfrm>
          <a:prstGeom prst="roundRect">
            <a:avLst>
              <a:gd name="adj" fmla="val 8889"/>
            </a:avLst>
          </a:prstGeom>
          <a:solidFill>
            <a:srgbClr val="D6E4F0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12080" y="2514600"/>
            <a:ext cx="1828800" cy="411480"/>
          </a:xfrm>
          <a:prstGeom prst="roundRect">
            <a:avLst>
              <a:gd name="adj" fmla="val 888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3154680"/>
            <a:ext cx="1828800" cy="411480"/>
          </a:xfrm>
          <a:prstGeom prst="roundRect">
            <a:avLst>
              <a:gd name="adj" fmla="val 888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12080" y="3794760"/>
            <a:ext cx="1828800" cy="411480"/>
          </a:xfrm>
          <a:prstGeom prst="roundRect">
            <a:avLst>
              <a:gd name="adj" fmla="val 888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4754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RAG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citadas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60920" y="1188720"/>
            <a:ext cx="2194560" cy="4754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60920" y="1188720"/>
            <a:ext cx="2194560" cy="41148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1188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543800" y="1874520"/>
            <a:ext cx="1828800" cy="411480"/>
          </a:xfrm>
          <a:prstGeom prst="roundRect">
            <a:avLst>
              <a:gd name="adj" fmla="val 8889"/>
            </a:avLst>
          </a:prstGeom>
          <a:solidFill>
            <a:srgbClr val="D6E4F0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43800" y="2514600"/>
            <a:ext cx="1828800" cy="411480"/>
          </a:xfrm>
          <a:prstGeom prst="roundRect">
            <a:avLst>
              <a:gd name="adj" fmla="val 888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43800" y="3154680"/>
            <a:ext cx="1828800" cy="411480"/>
          </a:xfrm>
          <a:prstGeom prst="roundRect">
            <a:avLst>
              <a:gd name="adj" fmla="val 888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43800" y="3794760"/>
            <a:ext cx="1828800" cy="411480"/>
          </a:xfrm>
          <a:prstGeom prst="roundRect">
            <a:avLst>
              <a:gd name="adj" fmla="val 888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0" y="4754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692640" y="1188720"/>
            <a:ext cx="2194560" cy="4754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92640" y="1188720"/>
            <a:ext cx="2194560" cy="41148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92640" y="1188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875520" y="1874520"/>
            <a:ext cx="1828800" cy="411480"/>
          </a:xfrm>
          <a:prstGeom prst="roundRect">
            <a:avLst>
              <a:gd name="adj" fmla="val 8889"/>
            </a:avLst>
          </a:prstGeom>
          <a:solidFill>
            <a:srgbClr val="D6E4F0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875520" y="2514600"/>
            <a:ext cx="1828800" cy="411480"/>
          </a:xfrm>
          <a:prstGeom prst="roundRect">
            <a:avLst>
              <a:gd name="adj" fmla="val 888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75520" y="3154680"/>
            <a:ext cx="1828800" cy="411480"/>
          </a:xfrm>
          <a:prstGeom prst="roundRect">
            <a:avLst>
              <a:gd name="adj" fmla="val 888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875520" y="3794760"/>
            <a:ext cx="1828800" cy="411480"/>
          </a:xfrm>
          <a:prstGeom prst="roundRect">
            <a:avLst>
              <a:gd name="adj" fmla="val 888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829800" y="4754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HotChocolate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agregadas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Auth0 + roles + aislamiento multiempresa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PDF indexados con Worker y pgvector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RAG con Gemini e historial de conversaciones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Tickets, GraphQL BFF y mensajería RabbitMQ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Docker Compose en AWS EC2 + Caddy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131/131 pruebas en verde y vulnerabilidades NuGet corregidas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aprendidas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4300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527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encontrados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581912"/>
            <a:ext cx="5212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Errores API sin formato uniforme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CORS / proxy en GraphQL BFF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Imagen Docker del Worker inestable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Vulnerabilidades NuGet High/Critical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Ajuste de stack (Azure → AWS/Gemini)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14300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2527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resolvieron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1581912"/>
            <a:ext cx="5212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Middleware global de excepciones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CORS + nginx/Caddy + cliente GraphQL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Runtime aspnet:9.0 en Worker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Upgrade AutoMapper y SemanticKernel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Decisiones documentadas en actualización técnica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funcional: SaaS multiempresa con RAG sobre PDF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por servicios desacoplados y desplegable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basada en Auth0, roles y tenancy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demostrable con suite automatizada en verde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sólida para evolucionar hacia producción completa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F"/>
          </a:solidFill>
          <a:ln w="12700">
            <a:solidFill>
              <a:srgbClr val="1B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ContactCenterAI  ·  Gracias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029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Katlheen Valeska Rodriguez Garcia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Final — ContactCenterAI</dc:title>
  <dc:subject>Proyecto Final Ingeniería en Desarrollo de Software</dc:subject>
  <dc:creator>Katlheen Valeska Rodriguez Garcia</dc:creator>
  <cp:lastModifiedBy>Katlheen Valeska Rodriguez Garcia</cp:lastModifiedBy>
  <cp:revision>1</cp:revision>
  <dcterms:created xsi:type="dcterms:W3CDTF">2026-07-20T01:58:48Z</dcterms:created>
  <dcterms:modified xsi:type="dcterms:W3CDTF">2026-07-20T01:58:48Z</dcterms:modified>
</cp:coreProperties>
</file>